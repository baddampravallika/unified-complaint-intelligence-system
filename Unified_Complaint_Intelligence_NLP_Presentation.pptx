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4"/>
  </p:notesMasterIdLst>
  <p:sldIdLst>
    <p:sldId id="257" r:id="rId3"/>
    <p:sldId id="258" r:id="rId5"/>
    <p:sldId id="304" r:id="rId6"/>
    <p:sldId id="322" r:id="rId7"/>
    <p:sldId id="314" r:id="rId8"/>
    <p:sldId id="312" r:id="rId9"/>
    <p:sldId id="313" r:id="rId10"/>
    <p:sldId id="315" r:id="rId11"/>
    <p:sldId id="280" r:id="rId12"/>
    <p:sldId id="316" r:id="rId13"/>
    <p:sldId id="311" r:id="rId14"/>
    <p:sldId id="317" r:id="rId15"/>
    <p:sldId id="318" r:id="rId16"/>
    <p:sldId id="310" r:id="rId17"/>
    <p:sldId id="324" r:id="rId18"/>
    <p:sldId id="323" r:id="rId19"/>
    <p:sldId id="320" r:id="rId20"/>
    <p:sldId id="321" r:id="rId21"/>
    <p:sldId id="302" r:id="rId22"/>
    <p:sldId id="271" r:id="rId23"/>
    <p:sldId id="272" r:id="rId24"/>
  </p:sldIdLst>
  <p:sldSz cx="12192000" cy="6858000" type="screen16x9"/>
  <p:notesSz cx="6858000" cy="9144000"/>
  <p:embeddedFontLst>
    <p:embeddedFont>
      <p:font typeface="Calibri" panose="020F0502020204030204"/>
      <p:regular r:id="rId28"/>
      <p:bold r:id="rId29"/>
      <p:italic r:id="rId30"/>
      <p:boldItalic r:id="rId31"/>
    </p:embeddedFont>
    <p:embeddedFont>
      <p:font typeface="Calibri" panose="020F0502020204030204" charset="0"/>
      <p:regular r:id="rId32"/>
      <p:bold r:id="rId33"/>
      <p:italic r:id="rId34"/>
      <p:boldItalic r:id="rId35"/>
    </p:embeddedFont>
    <p:embeddedFont>
      <p:font typeface="Lato Black" panose="020F0802020204030203"/>
      <p:bold r:id="rId36"/>
      <p:boldItalic r:id="rId37"/>
    </p:embeddedFont>
    <p:embeddedFont>
      <p:font typeface="Microsoft YaHei" panose="020B0503020204020204" charset="-122"/>
      <p:regular r:id="rId38"/>
      <p:bold r:id="rId39"/>
    </p:embeddedFont>
    <p:embeddedFont>
      <p:font typeface="Libre Baskerville"/>
      <p:regular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>
      <p:cViewPr varScale="1">
        <p:scale>
          <a:sx n="116" d="100"/>
          <a:sy n="116" d="100"/>
        </p:scale>
        <p:origin x="144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ableStyles" Target="tableStyles.xml"/><Relationship Id="rId28" Type="http://schemas.openxmlformats.org/officeDocument/2006/relationships/font" Target="fonts/font1.fntdata"/><Relationship Id="rId29" Type="http://schemas.openxmlformats.org/officeDocument/2006/relationships/font" Target="fonts/font2.fntdata"/><Relationship Id="rId30" Type="http://schemas.openxmlformats.org/officeDocument/2006/relationships/font" Target="fonts/font3.fntdata"/><Relationship Id="rId31" Type="http://schemas.openxmlformats.org/officeDocument/2006/relationships/font" Target="fonts/font4.fntdata"/><Relationship Id="rId32" Type="http://schemas.openxmlformats.org/officeDocument/2006/relationships/font" Target="fonts/font5.fntdata"/><Relationship Id="rId33" Type="http://schemas.openxmlformats.org/officeDocument/2006/relationships/font" Target="fonts/font6.fntdata"/><Relationship Id="rId34" Type="http://schemas.openxmlformats.org/officeDocument/2006/relationships/font" Target="fonts/font7.fntdata"/><Relationship Id="rId35" Type="http://schemas.openxmlformats.org/officeDocument/2006/relationships/font" Target="fonts/font8.fntdata"/><Relationship Id="rId36" Type="http://schemas.openxmlformats.org/officeDocument/2006/relationships/font" Target="fonts/font9.fntdata"/><Relationship Id="rId37" Type="http://schemas.openxmlformats.org/officeDocument/2006/relationships/font" Target="fonts/font10.fntdata"/><Relationship Id="rId38" Type="http://schemas.openxmlformats.org/officeDocument/2006/relationships/font" Target="fonts/font11.fntdata"/><Relationship Id="rId39" Type="http://schemas.openxmlformats.org/officeDocument/2006/relationships/font" Target="fonts/font12.fntdata"/><Relationship Id="rId40" Type="http://schemas.openxmlformats.org/officeDocument/2006/relationships/font" Target="fonts/font1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65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9" name="Google Shape;3;n"/>
          <p:cNvSpPr txBox="1"/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48700" name="Google Shape;4;n"/>
          <p:cNvSpPr txBox="1"/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48701" name="Google Shape;5;n"/>
          <p:cNvSpPr/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48702" name="Google Shape;6;n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48703" name="Google Shape;7;n"/>
          <p:cNvSpPr txBox="1"/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048704" name="Google Shape;8;n"/>
          <p:cNvSpPr txBox="1"/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28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8" name="Google Shape;95;p1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 panose="020F0502020204030204"/>
              <a:buNone/>
            </a:pPr>
          </a:p>
        </p:txBody>
      </p:sp>
      <p:sp>
        <p:nvSpPr>
          <p:cNvPr id="1048589" name="Google Shape;96;p1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37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Google Shape;101;p3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</a:p>
        </p:txBody>
      </p:sp>
      <p:sp>
        <p:nvSpPr>
          <p:cNvPr id="1048597" name="Google Shape;102;p3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55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7" name="Google Shape;113;p5:notes"/>
          <p:cNvSpPr txBox="1"/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</a:p>
        </p:txBody>
      </p:sp>
      <p:sp>
        <p:nvSpPr>
          <p:cNvPr id="1048648" name="Google Shape;114;p5:notes"/>
          <p:cNvSpPr/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5728" y="1600200"/>
            <a:ext cx="5376672" cy="45259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/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/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/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/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70573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/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/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100000"/>
          </a:schemeClr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Title 1025"/>
          <p:cNvSpPr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t>Click to edit Master title style</a:t>
            </a:r>
          </a:p>
        </p:txBody>
      </p:sp>
      <p:sp>
        <p:nvSpPr>
          <p:cNvPr id="1027" name="Text Placeholder 1026"/>
          <p:cNvSpPr/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1028" name="Date Placeholder 1027"/>
          <p:cNvSpPr/>
          <p:nvPr>
            <p:ph type="dt" sz="half" idx="2"/>
          </p:nvPr>
        </p:nvSpPr>
        <p:spPr>
          <a:xfrm>
            <a:off x="609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/>
            </a:lvl1pPr>
          </a:lstStyle>
          <a:p/>
        </p:txBody>
      </p:sp>
      <p:sp>
        <p:nvSpPr>
          <p:cNvPr id="1029" name="Footer Placeholder 1028"/>
          <p:cNvSpPr/>
          <p:nvPr>
            <p:ph type="ftr" sz="quarter" idx="3"/>
          </p:nvPr>
        </p:nvSpPr>
        <p:spPr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/>
            </a:lvl1pPr>
          </a:lstStyle>
          <a:p/>
        </p:txBody>
      </p:sp>
      <p:sp>
        <p:nvSpPr>
          <p:cNvPr id="1030" name="Slide Number Placeholder 1029"/>
          <p:cNvSpPr/>
          <p:nvPr>
            <p:ph type="sldNum" sz="quarter" idx="4"/>
          </p:nvPr>
        </p:nvSpPr>
        <p:spPr>
          <a:xfrm>
            <a:off x="8737600" y="6245225"/>
            <a:ext cx="28448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/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Font typeface="Arial" panose="020B0604020202020204" pitchFamily="34" charset="0"/>
        <a:buNone/>
        <a:defRPr b="0" i="0" u="none" kern="1200" baseline="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6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3" name="Google Shape;98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-376555" y="-163195"/>
            <a:ext cx="12568555" cy="7061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7154" name="TextBox 2097153"/>
          <p:cNvSpPr txBox="1"/>
          <p:nvPr/>
        </p:nvSpPr>
        <p:spPr>
          <a:xfrm>
            <a:off x="1600200" y="2331720"/>
            <a:ext cx="886968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Aptos Display"/>
              </a:defRPr>
            </a:pPr>
            <a:r>
              <a:t>Unified Complaint</a:t>
            </a:r>
            <a:br/>
            <a:r>
              <a:t>Intelligence Using NLP</a:t>
            </a:r>
          </a:p>
        </p:txBody>
      </p:sp>
      <p:sp>
        <p:nvSpPr>
          <p:cNvPr id="2097155" name="TextBox 2097154"/>
          <p:cNvSpPr txBox="1"/>
          <p:nvPr/>
        </p:nvSpPr>
        <p:spPr>
          <a:xfrm>
            <a:off x="2743200" y="429768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FFFFFF"/>
                </a:solidFill>
              </a:defRPr>
            </a:pPr>
            <a:r>
              <a:t>Presented by: B. Pravallika</a:t>
            </a:r>
            <a:br/>
            <a:r>
              <a:t>Batch No: 480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5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Box 35"/>
          <p:cNvSpPr txBox="1"/>
          <p:nvPr/>
        </p:nvSpPr>
        <p:spPr>
          <a:xfrm>
            <a:off x="502920" y="22860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8"/>
                </a:solidFill>
                <a:latin typeface="Aptos Display"/>
              </a:defRPr>
            </a:pPr>
            <a:r>
              <a:t>About 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1371600"/>
            <a:ext cx="91440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2200">
                <a:solidFill>
                  <a:srgbClr val="2D2D2D"/>
                </a:solidFill>
                <a:latin typeface="Aptos"/>
              </a:defRPr>
            </a:pPr>
            <a:r>
              <a:t>B. Pravallika</a:t>
            </a:r>
          </a:p>
          <a:p>
            <a:pPr>
              <a:spcAft>
                <a:spcPts val="900"/>
              </a:spcAft>
              <a:defRPr sz="22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2200">
                <a:solidFill>
                  <a:srgbClr val="2D2D2D"/>
                </a:solidFill>
                <a:latin typeface="Aptos"/>
              </a:defRPr>
            </a:pPr>
            <a:r>
              <a:t>B.Tech – Computer Science and Engineering</a:t>
            </a:r>
          </a:p>
          <a:p>
            <a:pPr>
              <a:spcAft>
                <a:spcPts val="900"/>
              </a:spcAft>
              <a:defRPr sz="2200">
                <a:solidFill>
                  <a:srgbClr val="2D2D2D"/>
                </a:solidFill>
                <a:latin typeface="Aptos"/>
              </a:defRPr>
            </a:pPr>
            <a:r>
              <a:t>Nalla Malla Reddy Engineering College</a:t>
            </a:r>
          </a:p>
          <a:p>
            <a:pPr>
              <a:spcAft>
                <a:spcPts val="900"/>
              </a:spcAft>
              <a:defRPr sz="22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2200">
                <a:solidFill>
                  <a:srgbClr val="2D2D2D"/>
                </a:solidFill>
                <a:latin typeface="Aptos"/>
              </a:defRPr>
            </a:pPr>
            <a:r>
              <a:t>Interested in using data, machine learning and NLP to solve real-world problems.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6696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48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8"/>
                </a:solidFill>
                <a:latin typeface="Aptos Display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91440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Introduction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CRISP-ML(Q)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Business Problem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Objective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Dataset Overview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Data Preprocessing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Text Representation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Model Building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Model Evaluation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Hyperparameter Tuning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Prediction / Inference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Challenges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Key Insights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Recommendations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8"/>
                </a:solidFill>
                <a:latin typeface="Aptos Display"/>
              </a:defRPr>
            </a:pPr>
            <a:r>
              <a:t>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9601200" cy="46634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Customer complaints contain valuable information about product problems, customer issues and specific sub-issues. However, complaint narratives are unstructured text and are difficult to categorize manually at scale.</a:t>
            </a: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This project develops a unified NLP system that reads a complaint narrative and predicts three related labels: Problem, Issue and Sub-Issue.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8"/>
                </a:solidFill>
                <a:latin typeface="Aptos Display"/>
              </a:defRPr>
            </a:pPr>
            <a:r>
              <a:t>CRISP-ML(Q)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051560"/>
            <a:ext cx="9509760" cy="621792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8"/>
                </a:solidFill>
              </a:defRPr>
            </a:pPr>
            <a:r>
              <a:t>Business &amp; Data Understanding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Understand complaint data, label hierarchy and business need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810512"/>
            <a:ext cx="9509760" cy="621792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8"/>
                </a:solidFill>
              </a:defRPr>
            </a:pPr>
            <a:r>
              <a:t>Data Preparation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Clean narratives, handle missing values and encode labels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569463"/>
            <a:ext cx="9509760" cy="621792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8"/>
                </a:solidFill>
              </a:defRPr>
            </a:pPr>
            <a:r>
              <a:t>Model Building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FastText embeddings + Bidirectional LSTM with 3 outputs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3328415"/>
            <a:ext cx="9509760" cy="621792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8"/>
                </a:solidFill>
              </a:defRPr>
            </a:pPr>
            <a:r>
              <a:t>Evaluation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Classification report and validation monitoring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4087368"/>
            <a:ext cx="9509760" cy="621792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8"/>
                </a:solidFill>
              </a:defRPr>
            </a:pPr>
            <a:r>
              <a:t>Optimization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Optuna Bayesian hyperparameter search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4846319"/>
            <a:ext cx="9509760" cy="621792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8"/>
                </a:solidFill>
              </a:defRPr>
            </a:pPr>
            <a:r>
              <a:t>Inference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Preprocess new complaint and return 3 predicted labels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8"/>
                </a:solidFill>
                <a:latin typeface="Aptos Display"/>
              </a:defRPr>
            </a:pPr>
            <a:r>
              <a:t>Business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9418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Organizations receive large volumes of customer complaints through support and complaint channels.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Manual reading and categorization is time-consuming and can lead to inconsistent classification.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A complaint may contain multiple levels of information: the broad product/problem, the issue and the detailed sub-issue.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An automated classifier can support faster routing, categorization and downstream complaint analysis.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8"/>
                </a:solidFill>
                <a:latin typeface="Aptos Display"/>
              </a:defRPr>
            </a:pPr>
            <a: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188720"/>
            <a:ext cx="9418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Build an NLP-based multi-task classification model for customer complaint narratives.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Predict Problem, Issue and Sub-Issue from the same complaint text.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Use FastText word embeddings to represent complaint vocabulary.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Use a Bidirectional LSTM to learn contextual information from complaint narratives.</a:t>
            </a:r>
          </a:p>
          <a:p>
            <a:pPr>
              <a:spcAft>
                <a:spcPts val="10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• Support inference on new complaint text through a reusable prediction function.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8"/>
                </a:solidFill>
                <a:latin typeface="Aptos Display"/>
              </a:defRPr>
            </a:pPr>
            <a:r>
              <a:t>Dataset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43000"/>
            <a:ext cx="292608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8"/>
                </a:solidFill>
              </a:defRPr>
            </a:pPr>
            <a:r>
              <a:t>Original data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2,023,066 rows</a:t>
            </a:r>
            <a:br/>
            <a:r>
              <a:t>11 columns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143000"/>
            <a:ext cx="292608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8"/>
                </a:solidFill>
              </a:defRPr>
            </a:pPr>
            <a:r>
              <a:t>Modeling sample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First 100,000 records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1143000"/>
            <a:ext cx="292608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8"/>
                </a:solidFill>
              </a:defRPr>
            </a:pPr>
            <a:r>
              <a:t>Input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Complaint narrative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14600"/>
            <a:ext cx="292608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8"/>
                </a:solidFill>
              </a:defRPr>
            </a:pPr>
            <a:r>
              <a:t>Problem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5 classes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2514600"/>
            <a:ext cx="292608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8"/>
                </a:solidFill>
              </a:defRPr>
            </a:pPr>
            <a:r>
              <a:t>Issue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98 classes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2514600"/>
            <a:ext cx="2926080" cy="11430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8"/>
                </a:solidFill>
              </a:defRPr>
            </a:pPr>
            <a:r>
              <a:t>Sub-Issue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213 classes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977639"/>
            <a:ext cx="9235440" cy="1554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Key fields include: product_5, narrative, Product, Date received, Sub-product, Issue, Sub-issue, Company, State and Timely response?.</a:t>
            </a:r>
          </a:p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The target hierarchy is: Complaint narrative → Problem → Issue → Sub-Issue.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8"/>
                </a:solidFill>
                <a:latin typeface="Aptos Display"/>
              </a:defRPr>
            </a:pPr>
            <a:r>
              <a:t>Data Pre-processing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98755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Loaded complaints.csv and inspected shape, columns, duplicates and missing values.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Reduced the dataset to the first 100,000 records for modeling.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Removed the Unnamed: 0 index column.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Filled missing values with the value 'unknown'.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Selected narrative as the input and product_5, Issue and Sub-issue as the three targets.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Applied LabelEncoder separately to Problem, Issue and Sub-Issue labels.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Used an 80% training / 20% testing split.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8"/>
                </a:solidFill>
                <a:latin typeface="Aptos Display"/>
              </a:defRPr>
            </a:pPr>
            <a:r>
              <a:t>Text Pre-processing &amp; Tokenization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2880360" cy="118872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8"/>
                </a:solidFill>
              </a:defRPr>
            </a:pPr>
            <a:r>
              <a:t>1. Normalize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Convert complaint text to lowercase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1188720"/>
            <a:ext cx="2880360" cy="118872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8"/>
                </a:solidFill>
              </a:defRPr>
            </a:pPr>
            <a:r>
              <a:t>2. Clean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Remove unwanted symbols and standalone x tokens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949440" y="1188720"/>
            <a:ext cx="2880360" cy="118872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8"/>
                </a:solidFill>
              </a:defRPr>
            </a:pPr>
            <a:r>
              <a:t>3. Normalize money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Replace currency amounts with the token 'money'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2880360" cy="118872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8"/>
                </a:solidFill>
              </a:defRPr>
            </a:pPr>
            <a:r>
              <a:t>4. Tokenize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Split cleaned text into words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0" y="2743200"/>
            <a:ext cx="2880360" cy="118872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8"/>
                </a:solidFill>
              </a:defRPr>
            </a:pPr>
            <a:r>
              <a:t>5. Stopwords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Remove English stopwords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49440" y="2743200"/>
            <a:ext cx="2880360" cy="118872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8"/>
                </a:solidFill>
              </a:defRPr>
            </a:pPr>
            <a:r>
              <a:t>6. Integer sequences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Keras Tokenizer with num_words=40,000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480560"/>
            <a:ext cx="91440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Padding: maximum sequence length = 200; padding='pre'; truncating='post'.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8"/>
                </a:solidFill>
                <a:latin typeface="Aptos Display"/>
              </a:defRPr>
            </a:pPr>
            <a:r>
              <a:t>Vectorization &amp; Embedding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34440"/>
            <a:ext cx="2926080" cy="13716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8"/>
                </a:solidFill>
              </a:defRPr>
            </a:pPr>
            <a:r>
              <a:t>FastText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vector_size = 100</a:t>
            </a:r>
            <a:br/>
            <a:r>
              <a:t>window = 10</a:t>
            </a:r>
            <a:br/>
            <a:r>
              <a:t>min_count =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86200" y="1234440"/>
            <a:ext cx="2926080" cy="13716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8"/>
                </a:solidFill>
              </a:defRPr>
            </a:pPr>
            <a:r>
              <a:t>Training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workers = 5</a:t>
            </a:r>
            <a:br/>
            <a:r>
              <a:t>epochs = 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234440"/>
            <a:ext cx="2926080" cy="13716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8"/>
                </a:solidFill>
              </a:defRPr>
            </a:pPr>
            <a:r>
              <a:t>Embedding matrix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40,000 × 100</a:t>
            </a:r>
            <a:br/>
            <a:r>
              <a:t>FastText vectors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063240"/>
            <a:ext cx="914400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2D2D2D"/>
                </a:solidFill>
                <a:latin typeface="Aptos"/>
              </a:defRPr>
            </a:pPr>
            <a:r>
              <a:t>The FastText model is trained on the tokenized training sentences. Its word vectors are copied into an embedding matrix and supplied to the Keras Embedding layer.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8"/>
                </a:solidFill>
                <a:latin typeface="Aptos Display"/>
              </a:defRPr>
            </a:pPr>
            <a:r>
              <a:t>Model Building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1828800"/>
            <a:ext cx="1828800" cy="18288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8"/>
                </a:solidFill>
              </a:defRPr>
            </a:pPr>
            <a:r>
              <a:t>Input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200-token sequence</a:t>
            </a:r>
          </a:p>
        </p:txBody>
      </p:sp>
      <p:sp>
        <p:nvSpPr>
          <p:cNvPr id="4" name="Chevron 3"/>
          <p:cNvSpPr/>
          <p:nvPr/>
        </p:nvSpPr>
        <p:spPr>
          <a:xfrm>
            <a:off x="2359152" y="2423160"/>
            <a:ext cx="411480" cy="502920"/>
          </a:xfrm>
          <a:prstGeom prst="chevron">
            <a:avLst/>
          </a:prstGeom>
          <a:solidFill>
            <a:srgbClr val="3065A8"/>
          </a:solidFill>
          <a:ln>
            <a:solidFill>
              <a:srgbClr val="3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606040" y="1828800"/>
            <a:ext cx="1828800" cy="18288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8"/>
                </a:solidFill>
              </a:defRPr>
            </a:pPr>
            <a:r>
              <a:t>Embedding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40,000 vocab</a:t>
            </a:r>
            <a:br/>
            <a:r>
              <a:t>100-d vectors</a:t>
            </a:r>
          </a:p>
        </p:txBody>
      </p:sp>
      <p:sp>
        <p:nvSpPr>
          <p:cNvPr id="6" name="Chevron 5"/>
          <p:cNvSpPr/>
          <p:nvPr/>
        </p:nvSpPr>
        <p:spPr>
          <a:xfrm>
            <a:off x="4462272" y="2423160"/>
            <a:ext cx="411480" cy="502920"/>
          </a:xfrm>
          <a:prstGeom prst="chevron">
            <a:avLst/>
          </a:prstGeom>
          <a:solidFill>
            <a:srgbClr val="3065A8"/>
          </a:solidFill>
          <a:ln>
            <a:solidFill>
              <a:srgbClr val="3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709160" y="1828800"/>
            <a:ext cx="1828800" cy="18288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8"/>
                </a:solidFill>
              </a:defRPr>
            </a:pPr>
            <a:r>
              <a:t>BiLSTM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128 units</a:t>
            </a:r>
          </a:p>
        </p:txBody>
      </p:sp>
      <p:sp>
        <p:nvSpPr>
          <p:cNvPr id="8" name="Chevron 7"/>
          <p:cNvSpPr/>
          <p:nvPr/>
        </p:nvSpPr>
        <p:spPr>
          <a:xfrm>
            <a:off x="6565392" y="2423160"/>
            <a:ext cx="411480" cy="502920"/>
          </a:xfrm>
          <a:prstGeom prst="chevron">
            <a:avLst/>
          </a:prstGeom>
          <a:solidFill>
            <a:srgbClr val="3065A8"/>
          </a:solidFill>
          <a:ln>
            <a:solidFill>
              <a:srgbClr val="3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812280" y="1828800"/>
            <a:ext cx="1828800" cy="18288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8"/>
                </a:solidFill>
              </a:defRPr>
            </a:pPr>
            <a:r>
              <a:t>Dense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96 → 32</a:t>
            </a:r>
            <a:br/>
            <a:r>
              <a:t>ReLU</a:t>
            </a:r>
          </a:p>
        </p:txBody>
      </p:sp>
      <p:sp>
        <p:nvSpPr>
          <p:cNvPr id="10" name="Chevron 9"/>
          <p:cNvSpPr/>
          <p:nvPr/>
        </p:nvSpPr>
        <p:spPr>
          <a:xfrm>
            <a:off x="8668512" y="2423160"/>
            <a:ext cx="411480" cy="502920"/>
          </a:xfrm>
          <a:prstGeom prst="chevron">
            <a:avLst/>
          </a:prstGeom>
          <a:solidFill>
            <a:srgbClr val="3065A8"/>
          </a:solidFill>
          <a:ln>
            <a:solidFill>
              <a:srgbClr val="3065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732520" y="1828800"/>
            <a:ext cx="1828800" cy="18288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8"/>
                </a:solidFill>
              </a:defRPr>
            </a:pPr>
            <a:r>
              <a:t>3 Outputs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Problem: 5</a:t>
            </a:r>
            <a:br/>
            <a:r>
              <a:t>Issue: 98</a:t>
            </a:r>
            <a:br/>
            <a:r>
              <a:t>Sub-Issue: 213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9144000" cy="10058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Shared representation with three classification heads makes this a multi-task / multi-output classifier.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8"/>
                </a:solidFill>
                <a:latin typeface="Aptos Display"/>
              </a:defRPr>
            </a:pPr>
            <a:r>
              <a:t>Training Configuration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96012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Loss: sparse_categorical_crossentropy for all three outputs.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Metric: accuracy for Problem, Issue and Sub-Issue.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Optimizer in the base model: Adam.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Training epochs: 20; batch size: 256.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Class balancing: compute_sample_weight(class_weight='balanced') separately for each output.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Early stopping monitors validation loss with patience=5 and restores the best weights.</a:t>
            </a:r>
          </a:p>
          <a:p>
            <a:pPr>
              <a:spcAft>
                <a:spcPts val="1000"/>
              </a:spcAft>
              <a:defRPr sz="1600">
                <a:solidFill>
                  <a:srgbClr val="2D2D2D"/>
                </a:solidFill>
                <a:latin typeface="Aptos"/>
              </a:defRPr>
            </a:pPr>
            <a:r>
              <a:t>• Training uses the same held-out test split as validation_data in the notebook.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8"/>
                </a:solidFill>
                <a:latin typeface="Aptos Display"/>
              </a:defRPr>
            </a:pPr>
            <a:r>
              <a:t>Model Evaluation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188720"/>
            <a:ext cx="2834640" cy="128016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8"/>
                </a:solidFill>
              </a:defRPr>
            </a:pPr>
            <a:r>
              <a:t>Evaluation method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classification_report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931920" y="1188720"/>
            <a:ext cx="2834640" cy="128016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8"/>
                </a:solidFill>
              </a:defRPr>
            </a:pPr>
            <a:r>
              <a:t>Reported output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Problem classification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040880" y="1188720"/>
            <a:ext cx="2834640" cy="128016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8"/>
                </a:solidFill>
              </a:defRPr>
            </a:pPr>
            <a:r>
              <a:t>Predictions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argmax on softmax outputs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71800"/>
            <a:ext cx="914400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The notebook contains evaluation code that predicts on x_test_pad and generates a classification report for the Problem output.</a:t>
            </a: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No final accuracy / precision / recall values are recorded in the notebook output, so this presentation does not invent or report unobserved scores.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8"/>
                </a:solidFill>
                <a:latin typeface="Aptos Display"/>
              </a:defRPr>
            </a:pPr>
            <a:r>
              <a:t>Hyperparameter Tuning – Optuna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960120"/>
            <a:ext cx="978408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• Optimization method: Optuna Bayesian-style search using an objective function.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• Number of trials configured: 20.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• LSTM units: 64–256.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• Number of Dense layers: 1–10; each layer can use 32–128 units.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• Epochs: 1–100; batch size: 6–128.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• Learning rate: 1e-4 to 1e-2.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• Activation: sigmoid, tanh or relu.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• Optimizer: SGD, Adagrad, RMSprop or Adam.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• First dropout rate: 0.1–0.5.</a:t>
            </a:r>
          </a:p>
          <a:p>
            <a:pPr>
              <a:spcAft>
                <a:spcPts val="1000"/>
              </a:spcAft>
              <a:defRPr sz="1400">
                <a:solidFill>
                  <a:srgbClr val="2D2D2D"/>
                </a:solidFill>
                <a:latin typeface="Aptos"/>
              </a:defRPr>
            </a:pPr>
            <a:r>
              <a:t>• Objective: average of the best validation accuracies for Problem, Issue and Sub-Issue.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8"/>
                </a:solidFill>
                <a:latin typeface="Aptos Display"/>
              </a:defRPr>
            </a:pPr>
            <a:r>
              <a:t>Prediction / Inference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417320"/>
            <a:ext cx="1828800" cy="13716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8"/>
                </a:solidFill>
              </a:defRPr>
            </a:pPr>
            <a:r>
              <a:t>New complaint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Raw text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1417320"/>
            <a:ext cx="1828800" cy="13716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8"/>
                </a:solidFill>
              </a:defRPr>
            </a:pPr>
            <a:r>
              <a:t>Preprocess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Clean 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846320" y="1417320"/>
            <a:ext cx="1828800" cy="13716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8"/>
                </a:solidFill>
              </a:defRPr>
            </a:pPr>
            <a:r>
              <a:t>Tokenize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Integer sequence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0" y="1417320"/>
            <a:ext cx="1828800" cy="13716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8"/>
                </a:solidFill>
              </a:defRPr>
            </a:pPr>
            <a:r>
              <a:t>Pad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Length = 200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052560" y="1417320"/>
            <a:ext cx="1645920" cy="1371600"/>
          </a:xfrm>
          <a:prstGeom prst="roundRect">
            <a:avLst/>
          </a:prstGeom>
          <a:solidFill>
            <a:srgbClr val="EFF4FA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b="1" sz="1800">
                <a:solidFill>
                  <a:srgbClr val="182B48"/>
                </a:solidFill>
              </a:defRPr>
            </a:pPr>
            <a:r>
              <a:t>Model</a:t>
            </a:r>
          </a:p>
          <a:p>
            <a:pPr>
              <a:spcBef>
                <a:spcPts val="600"/>
              </a:spcBef>
              <a:defRPr sz="1400">
                <a:solidFill>
                  <a:srgbClr val="2D2D2D"/>
                </a:solidFill>
              </a:defRPr>
            </a:pPr>
            <a:r>
              <a:t>3 outputs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83280"/>
            <a:ext cx="914400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The function predict_problem_n_issue() performs preprocessing, tokenization, padding and model prediction. Each softmax output is converted to a class index with argmax and decoded back to the original label using its LabelEncoder.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8"/>
                </a:solidFill>
                <a:latin typeface="Aptos Display"/>
              </a:defRPr>
            </a:pPr>
            <a:r>
              <a:t>Challenges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93268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• Highly imbalanced complaint categories, especially across many Issue and Sub-Issue labels.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• Large label space: 5 Problem classes, 98 Issue classes and 213 Sub-Issue classes.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• Complaint narratives are noisy and contain spelling variation, placeholders and monetary references.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• Maintaining consistent preprocessing between training and prediction is essential.</a:t>
            </a:r>
          </a:p>
          <a:p>
            <a:pPr>
              <a:spcAft>
                <a:spcPts val="1000"/>
              </a:spcAft>
              <a:defRPr sz="1800">
                <a:solidFill>
                  <a:srgbClr val="2D2D2D"/>
                </a:solidFill>
                <a:latin typeface="Aptos"/>
              </a:defRPr>
            </a:pPr>
            <a:r>
              <a:t>• Multi-output training requires aligned inputs and three target arrays with identical sample counts.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8"/>
                </a:solidFill>
                <a:latin typeface="Aptos Display"/>
              </a:defRPr>
            </a:pPr>
            <a:r>
              <a:t>Key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143000"/>
            <a:ext cx="950976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The project converts unstructured complaint narratives into structured hierarchical labels.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Problem classification is comparatively compact with 5 classes, while Sub-Issue classification is much more fine-grained with 213 classes.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FastText provides a 100-dimensional word representation for the complaint vocabulary.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Bidirectional LSTM captures information from both directions of the token sequence.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One shared neural representation supports three related prediction tasks.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Class-balanced sample weights and early stopping are used to address training challenges.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8"/>
                </a:solidFill>
                <a:latin typeface="Aptos Display"/>
              </a:defRPr>
            </a:pPr>
            <a:r>
              <a:t>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9601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Track separate performance metrics for Problem, Issue and Sub-Issue rather than relying only on one overall score.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Investigate class-level precision, recall and F1 for rare Issue and Sub-Issue categories.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Consider hierarchical prediction so Issue/Sub-Issue decisions can be constrained by the predicted parent category.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Keep the preprocessing pipeline identical during training and production inference.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Evaluate the tuned Optuna configuration against the base model on a fixed held-out test set.</a:t>
            </a:r>
          </a:p>
          <a:p>
            <a:pPr>
              <a:spcAft>
                <a:spcPts val="1000"/>
              </a:spcAft>
              <a:defRPr sz="1700">
                <a:solidFill>
                  <a:srgbClr val="2D2D2D"/>
                </a:solidFill>
                <a:latin typeface="Aptos"/>
              </a:defRPr>
            </a:pPr>
            <a:r>
              <a:t>• Consider modern transformer-based encoders for comparison with the BiLSTM baseline.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2" name=""/>
        <p:cNvGrpSpPr/>
        <p:nvPr/>
      </p:nvGrpSpPr>
      <p:grpSpPr/>
      <p:sp>
        <p:nvSpPr>
          <p:cNvPr id="53" name="TextBox 52"/>
          <p:cNvSpPr txBox="1"/>
          <p:nvPr/>
        </p:nvSpPr>
        <p:spPr>
          <a:xfrm>
            <a:off x="502920" y="228600"/>
            <a:ext cx="1042416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2B48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" y="1325880"/>
            <a:ext cx="9144000" cy="4114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The notebook demonstrates a complete NLP workflow for customer complaint intelligence: data inspection, cleaning, text preprocessing, tokenization, FastText vectorization, multi-output BiLSTM modeling, class balancing, early stopping, evaluation and Optuna-based tuning.</a:t>
            </a: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Aptos"/>
              </a:defRPr>
            </a:pPr>
          </a:p>
          <a:p>
            <a:pPr>
              <a:spcAft>
                <a:spcPts val="900"/>
              </a:spcAft>
              <a:defRPr sz="2000">
                <a:solidFill>
                  <a:srgbClr val="2D2D2D"/>
                </a:solidFill>
                <a:latin typeface="Aptos"/>
              </a:defRPr>
            </a:pPr>
            <a:r>
              <a:t>The final system is designed to transform a complaint narrative into three structured predictions—Problem, Issue and Sub-Issue—supporting scalable complaint categorization.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66960" y="6400800"/>
            <a:ext cx="1371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96969"/>
                </a:solidFill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0" name="Google Shape;116;p5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6466516" y="1850749"/>
            <a:ext cx="4465643" cy="2834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97171" name="TextBox 2097170"/>
          <p:cNvSpPr txBox="1"/>
          <p:nvPr/>
        </p:nvSpPr>
        <p:spPr>
          <a:xfrm>
            <a:off x="1371600" y="2560320"/>
            <a:ext cx="8686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ptos Display"/>
              </a:defRPr>
            </a:pPr>
            <a:r>
              <a:t>THANK YOU</a:t>
            </a:r>
          </a:p>
        </p:txBody>
      </p:sp>
      <p:sp>
        <p:nvSpPr>
          <p:cNvPr id="2097172" name="TextBox 2097171"/>
          <p:cNvSpPr txBox="1"/>
          <p:nvPr/>
        </p:nvSpPr>
        <p:spPr>
          <a:xfrm>
            <a:off x="3200400" y="3931920"/>
            <a:ext cx="5029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>
                <a:solidFill>
                  <a:srgbClr val="FFFFFF"/>
                </a:solidFill>
              </a:defRPr>
            </a:pPr>
            <a:r>
              <a:t>Unified Complaint Intelligence Using NLP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845*263"/>
  <p:tag name="TABLE_ENDDRAG_RECT" val="62*110*845*263"/>
</p:tagLst>
</file>

<file path=ppt/tags/tag2.xml><?xml version="1.0" encoding="utf-8"?>
<p:tagLst xmlns:p="http://schemas.openxmlformats.org/presentationml/2006/main">
  <p:tag name="TABLE_ENDDRAG_ORIGIN_RECT" val="818*365"/>
  <p:tag name="TABLE_ENDDRAG_RECT" val="74*85*818*365"/>
</p:tagLst>
</file>

<file path=ppt/theme/theme1.xml><?xml version="1.0" encoding="utf-8"?>
<a:theme xmlns:a="http://schemas.openxmlformats.org/drawingml/2006/main" name="Default 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7DB6EF"/>
      </a:accent1>
      <a:accent2>
        <a:srgbClr val="C0504D"/>
      </a:accent2>
      <a:accent3>
        <a:srgbClr val="FFFFFF"/>
      </a:accent3>
      <a:accent4>
        <a:srgbClr val="000000"/>
      </a:accent4>
      <a:accent5>
        <a:srgbClr val="C0D7F5"/>
      </a:accent5>
      <a:accent6>
        <a:srgbClr val="AC4744"/>
      </a:accent6>
      <a:hlink>
        <a:srgbClr val="0066CC"/>
      </a:hlink>
      <a:folHlink>
        <a:srgbClr val="800080"/>
      </a:folHlink>
    </a:clrScheme>
    <a:fontScheme name="">
      <a:majorFont>
        <a:latin typeface="Arial"/>
        <a:ea typeface="Arial"/>
        <a:cs typeface=""/>
      </a:majorFont>
      <a:minorFont>
        <a:latin typeface="Arial"/>
        <a:ea typeface="Aria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7DB6EF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C0D7F5"/>
        </a:accent5>
        <a:accent6>
          <a:srgbClr val="AC4744"/>
        </a:accent6>
        <a:hlink>
          <a:srgbClr val="0066CC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8266</Words>
  <Application>WPS Presentation</Application>
  <PresentationFormat/>
  <Paragraphs>337</Paragraphs>
  <Slides>21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Arial</vt:lpstr>
      <vt:lpstr>SimSun</vt:lpstr>
      <vt:lpstr>Wingdings</vt:lpstr>
      <vt:lpstr>Arial</vt:lpstr>
      <vt:lpstr>Calibri</vt:lpstr>
      <vt:lpstr>Calibri</vt:lpstr>
      <vt:lpstr>Lato Black</vt:lpstr>
      <vt:lpstr>Wingdings</vt:lpstr>
      <vt:lpstr>Microsoft YaHei</vt:lpstr>
      <vt:lpstr>Arial Unicode MS</vt:lpstr>
      <vt:lpstr>Courier New</vt:lpstr>
      <vt:lpstr>Libre Baskerville</vt:lpstr>
      <vt:lpstr>Default Design</vt:lpstr>
      <vt:lpstr>PowerPoint 演示文稿</vt:lpstr>
      <vt:lpstr>PowerPoint 演示文稿</vt:lpstr>
      <vt:lpstr>  Agenda</vt:lpstr>
      <vt:lpstr>Introduction</vt:lpstr>
      <vt:lpstr>CRISP-ML(Q)</vt:lpstr>
      <vt:lpstr>Business Problem</vt:lpstr>
      <vt:lpstr>Objective</vt:lpstr>
      <vt:lpstr>Dataset Overview</vt:lpstr>
      <vt:lpstr>Data Pre-processing</vt:lpstr>
      <vt:lpstr>PowerPoint 演示文稿</vt:lpstr>
      <vt:lpstr>PowerPoint 演示文稿</vt:lpstr>
      <vt:lpstr>Model Evaluation and Model Selection</vt:lpstr>
      <vt:lpstr>PowerPoint 演示文稿</vt:lpstr>
      <vt:lpstr>PowerPoint 演示文稿</vt:lpstr>
      <vt:lpstr>Model Deployment</vt:lpstr>
      <vt:lpstr>Challenges</vt:lpstr>
      <vt:lpstr>Key Insights</vt:lpstr>
      <vt:lpstr>Recommendations</vt:lpstr>
      <vt:lpstr>Conclusion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Raghu Ram Aduri</dc:creator>
  <cp:lastModifiedBy>PRAVALLIKA</cp:lastModifiedBy>
  <cp:revision>64</cp:revision>
  <dcterms:created xsi:type="dcterms:W3CDTF">2026-02-28T11:33:00Z</dcterms:created>
  <dcterms:modified xsi:type="dcterms:W3CDTF">2026-08-05T10:10:32Z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80EE45EEFA654867A5B27D8A582FCEDF_13</vt:lpwstr>
  </property>
  <property fmtid="{D5CDD505-2E9C-101B-9397-08002B2CF9AE}" pid="3" name="KSOProductBuildVer">
    <vt:lpwstr>1033-12.1.0.28032</vt:lpwstr>
  </property>
</Properties>
</file>